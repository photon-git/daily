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</p:sldIdLst>
  <p:sldSz cx="18288000" cy="298704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22" userDrawn="1">
          <p15:clr>
            <a:srgbClr val="A4A3A4"/>
          </p15:clr>
        </p15:guide>
        <p15:guide id="2" pos="292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684"/>
    <p:restoredTop sz="94722"/>
  </p:normalViewPr>
  <p:slideViewPr>
    <p:cSldViewPr snapToGrid="0" snapToObjects="1" showGuides="1">
      <p:cViewPr>
        <p:scale>
          <a:sx n="26" d="100"/>
          <a:sy n="26" d="100"/>
        </p:scale>
        <p:origin x="2136" y="376"/>
      </p:cViewPr>
      <p:guideLst>
        <p:guide orient="horz" pos="2122"/>
        <p:guide pos="2928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6" Type="http://schemas.openxmlformats.org/officeDocument/2006/relationships/tableStyles" Target="tableStyles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2.png"/><Relationship Id="rId2" Type="http://schemas.openxmlformats.org/officeDocument/2006/relationships/tags" Target="../tags/tag1.xml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组 225@1x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29870400"/>
          </a:xfrm>
          <a:prstGeom prst="rect">
            <a:avLst/>
          </a:prstGeom>
        </p:spPr>
      </p:pic>
      <p:sp>
        <p:nvSpPr>
          <p:cNvPr id="24" name="TextBox 3"/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215498" y="4467289"/>
            <a:ext cx="18266410" cy="1276985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lnSpc>
                <a:spcPct val="200000"/>
              </a:lnSpc>
              <a:defRPr sz="2000">
                <a:latin typeface="微软雅黑" panose="020B0503020204020204" charset="-122"/>
              </a:defRPr>
            </a:pPr>
            <a:r>
              <a:rPr lang="en-US" sz="40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(</a:t>
            </a:r>
            <a:r>
              <a:rPr sz="40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2025年11月10-16日</a:t>
            </a:r>
            <a:r>
              <a:rPr lang="en-US" sz="40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)</a:t>
            </a:r>
            <a:endParaRPr lang="en-US" sz="40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矩形 26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8126" y="1639279"/>
            <a:ext cx="18288000" cy="1866302"/>
          </a:xfrm>
          <a:prstGeom prst="rect">
            <a:avLst/>
          </a:prstGeom>
          <a:noFill/>
          <a:ln>
            <a:noFill/>
          </a:ln>
          <a:effectLst>
            <a:outerShdw blurRad="1270000" dist="1320800" dir="10200000" sx="25000" sy="25000" kx="-800400" algn="bl" rotWithShape="0">
              <a:schemeClr val="tx2">
                <a:lumMod val="60000"/>
                <a:lumOff val="40000"/>
                <a:alpha val="6000"/>
              </a:schemeClr>
            </a:outerShdw>
          </a:effectLst>
        </p:spPr>
        <p:txBody>
          <a:bodyPr wrap="square" rtlCol="0" anchor="t">
            <a:no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72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  <a:alpha val="40000"/>
                    </a:schemeClr>
                  </a:outerShdw>
                </a:effectLst>
                <a:latin typeface="微软雅黑" panose="020B0503020204020204" charset="-122"/>
                <a:ea typeface="微软雅黑" panose="020B0503020204020204" charset="-122"/>
              </a:rPr>
              <a:t>电量周度数据</a:t>
            </a:r>
            <a:endParaRPr lang="zh-CN" altLang="en-US" sz="7200" b="1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  <a:alpha val="40000"/>
                  </a:schemeClr>
                </a:outerShdw>
              </a:effectLst>
              <a:latin typeface="微软雅黑" panose="020B0503020204020204" charset="-122"/>
              <a:ea typeface="微软雅黑" panose="020B0503020204020204" charset="-122"/>
            </a:endParaRPr>
          </a:p>
        </p:txBody>
      </p:sp>
      <p:graphicFrame>
        <p:nvGraphicFramePr>
          <p:cNvPr id="5" name="Table 4"/>
          <p:cNvGraphicFramePr>
            <a:graphicFrameLocks noGrp="1" noMove="1" noResize="1" noDrilldown="1"/>
          </p:cNvGraphicFramePr>
          <p:nvPr>
            <p:custDataLst>
              <p:tags r:id="rId2"/>
            </p:custDataLst>
          </p:nvPr>
        </p:nvGraphicFramePr>
        <p:xfrm>
          <a:off x="338956" y="6023674"/>
          <a:ext cx="17618710" cy="217673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62433"/>
                <a:gridCol w="6218555"/>
                <a:gridCol w="3414395"/>
                <a:gridCol w="3223327"/>
              </a:tblGrid>
              <a:tr h="2239812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14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4000" b="1" dirty="0" err="1">
                          <a:latin typeface="微软雅黑" panose="020B0503020204020204" charset="-122"/>
                          <a:ea typeface="微软雅黑" panose="020B0503020204020204" charset="-122"/>
                        </a:rPr>
                        <a:t>周期</a:t>
                      </a:r>
                      <a:endParaRPr sz="4000" b="1" dirty="0" err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F797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14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4000" b="1" dirty="0" err="1">
                          <a:latin typeface="微软雅黑" panose="020B0503020204020204" charset="-122"/>
                          <a:ea typeface="微软雅黑" panose="020B0503020204020204" charset="-122"/>
                        </a:rPr>
                        <a:t>口径</a:t>
                      </a:r>
                      <a:endParaRPr sz="4000" b="1" dirty="0" err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F797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14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4000" b="1" dirty="0" err="1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数值</a:t>
                      </a:r>
                      <a:endParaRPr sz="4000" b="1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algn="ctr">
                        <a:lnSpc>
                          <a:spcPct val="150000"/>
                        </a:lnSpc>
                        <a:defRPr sz="14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4000" b="1" dirty="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(</a:t>
                      </a:r>
                      <a:r>
                        <a:rPr sz="4000" b="1" dirty="0" err="1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亿千瓦时</a:t>
                      </a:r>
                      <a:r>
                        <a:rPr sz="4000" b="1" dirty="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)</a:t>
                      </a:r>
                      <a:endParaRPr sz="4000" b="1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F797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14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4000" b="1" dirty="0" err="1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同比</a:t>
                      </a:r>
                      <a:endParaRPr sz="4000" b="1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algn="ctr">
                        <a:lnSpc>
                          <a:spcPct val="150000"/>
                        </a:lnSpc>
                        <a:defRPr sz="14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rPr sz="4000" b="1" dirty="0" err="1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增速</a:t>
                      </a:r>
                      <a:endParaRPr sz="4000" b="1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F797B"/>
                    </a:solidFill>
                  </a:tcPr>
                </a:tc>
              </a:tr>
              <a:tr h="3255645">
                <a:tc rowSpan="2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1200">
                          <a:latin typeface="微软雅黑" panose="020B0503020204020204" charset="-122"/>
                        </a:defRPr>
                      </a:pPr>
                      <a:r>
                        <a:rPr sz="4000" b="1" dirty="0" err="1">
                          <a:solidFill>
                            <a:srgbClr val="10565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周电量</a:t>
                      </a:r>
                      <a:endParaRPr sz="4000" b="1" dirty="0" err="1">
                        <a:solidFill>
                          <a:srgbClr val="10565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lnL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>
                      <a:noFill/>
                    </a:lnT>
                    <a:lnB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solidFill>
                      <a:srgbClr val="F5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1200">
                          <a:latin typeface="微软雅黑" panose="020B0503020204020204" charset="-122"/>
                        </a:defRPr>
                      </a:pPr>
                      <a:r>
                        <a:rPr sz="4000" b="0" dirty="0" err="1">
                          <a:solidFill>
                            <a:srgbClr val="10565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采集电量（含采集覆盖的分布式光伏和自备电厂自发自用电量）</a:t>
                      </a:r>
                      <a:endParaRPr sz="4000" b="0" dirty="0" err="1">
                        <a:solidFill>
                          <a:srgbClr val="10565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lnL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>
                      <a:noFill/>
                    </a:lnT>
                    <a:lnB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solidFill>
                      <a:srgbClr val="F4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1200">
                          <a:latin typeface="微软雅黑" panose="020B0503020204020204" charset="-122"/>
                        </a:defRPr>
                      </a:pPr>
                      <a:r>
                        <a:rPr lang="en-US" sz="4000" b="0">
                          <a:solidFill>
                            <a:srgbClr val="10565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xxx</a:t>
                      </a:r>
                      <a:endParaRPr lang="en-US" sz="4000" b="0">
                        <a:solidFill>
                          <a:srgbClr val="10565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lnL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>
                      <a:noFill/>
                    </a:lnT>
                    <a:lnB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solidFill>
                      <a:srgbClr val="F4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1200">
                          <a:latin typeface="微软雅黑" panose="020B0503020204020204" charset="-122"/>
                        </a:defRPr>
                      </a:pPr>
                      <a:r>
                        <a:rPr lang="en-US" sz="4000" b="0">
                          <a:solidFill>
                            <a:srgbClr val="10565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xx%</a:t>
                      </a:r>
                      <a:endParaRPr lang="en-US" sz="4000" b="0" dirty="0">
                        <a:solidFill>
                          <a:srgbClr val="105650"/>
                        </a:solidFill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</a:txBody>
                  <a:tcPr anchor="ctr">
                    <a:lnL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>
                      <a:noFill/>
                    </a:lnT>
                    <a:lnB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solidFill>
                      <a:srgbClr val="F4FFFF"/>
                    </a:solidFill>
                  </a:tcPr>
                </a:tc>
              </a:tr>
              <a:tr h="3256280">
                <a:tc vMerge="1">
                  <a:tcPr>
                    <a:lnL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B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solidFill>
                      <a:srgbClr val="EBFF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1200">
                          <a:latin typeface="微软雅黑" panose="020B0503020204020204" charset="-122"/>
                        </a:defRPr>
                      </a:pPr>
                      <a:r>
                        <a:rPr sz="4000" b="0" dirty="0" err="1">
                          <a:solidFill>
                            <a:srgbClr val="10565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售电量（营销口径）</a:t>
                      </a:r>
                      <a:endParaRPr sz="4000" b="0" dirty="0" err="1">
                        <a:solidFill>
                          <a:srgbClr val="10565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lnL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solidFill>
                      <a:srgbClr val="CBEA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1200">
                          <a:latin typeface="微软雅黑" panose="020B0503020204020204" charset="-122"/>
                        </a:defRPr>
                      </a:pPr>
                      <a:r>
                        <a:rPr lang="en-US" sz="4000" b="0" dirty="0">
                          <a:solidFill>
                            <a:srgbClr val="10565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xxx</a:t>
                      </a:r>
                      <a:endParaRPr lang="en-US" sz="4000" b="0" dirty="0">
                        <a:solidFill>
                          <a:srgbClr val="105650"/>
                        </a:solidFill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</a:txBody>
                  <a:tcPr anchor="ctr">
                    <a:lnL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solidFill>
                      <a:srgbClr val="CBEA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1200">
                          <a:latin typeface="微软雅黑" panose="020B0503020204020204" charset="-122"/>
                        </a:defRPr>
                      </a:pPr>
                      <a:r>
                        <a:rPr lang="en-US" sz="4000" b="0">
                          <a:solidFill>
                            <a:srgbClr val="10565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xx%</a:t>
                      </a:r>
                      <a:endParaRPr lang="en-US" sz="4000" b="0">
                        <a:solidFill>
                          <a:srgbClr val="105650"/>
                        </a:solidFill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</a:txBody>
                  <a:tcPr anchor="ctr">
                    <a:lnL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solidFill>
                      <a:srgbClr val="CBEAF2"/>
                    </a:solidFill>
                  </a:tcPr>
                </a:tc>
              </a:tr>
              <a:tr h="3252470">
                <a:tc rowSpan="2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1200">
                          <a:latin typeface="微软雅黑" panose="020B0503020204020204" charset="-122"/>
                        </a:defRPr>
                      </a:pPr>
                      <a:r>
                        <a:rPr sz="4000" b="1" dirty="0" err="1">
                          <a:solidFill>
                            <a:srgbClr val="10565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月累计电量</a:t>
                      </a:r>
                      <a:endParaRPr sz="4000" b="1" dirty="0">
                        <a:solidFill>
                          <a:srgbClr val="10565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algn="ctr">
                        <a:lnSpc>
                          <a:spcPct val="150000"/>
                        </a:lnSpc>
                      </a:pPr>
                      <a:r>
                        <a:rPr sz="4000" b="1" dirty="0">
                          <a:solidFill>
                            <a:srgbClr val="10565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(</a:t>
                      </a:r>
                      <a:r>
                        <a:rPr lang="en-US" sz="4000" b="1" dirty="0">
                          <a:solidFill>
                            <a:srgbClr val="10565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x</a:t>
                      </a:r>
                      <a:r>
                        <a:rPr sz="4000" b="1" dirty="0">
                          <a:solidFill>
                            <a:srgbClr val="10565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月</a:t>
                      </a:r>
                      <a:r>
                        <a:rPr lang="en-US" sz="4000" b="1" dirty="0">
                          <a:solidFill>
                            <a:srgbClr val="10565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x</a:t>
                      </a:r>
                      <a:r>
                        <a:rPr lang="zh-CN" sz="4000" b="1" dirty="0">
                          <a:solidFill>
                            <a:srgbClr val="10565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日</a:t>
                      </a:r>
                      <a:r>
                        <a:rPr sz="4000" b="1" dirty="0">
                          <a:solidFill>
                            <a:srgbClr val="10565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-</a:t>
                      </a:r>
                      <a:r>
                        <a:rPr lang="en-US" sz="4000" b="1" dirty="0">
                          <a:solidFill>
                            <a:srgbClr val="10565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x</a:t>
                      </a:r>
                      <a:r>
                        <a:rPr sz="4000" b="1" dirty="0">
                          <a:solidFill>
                            <a:srgbClr val="10565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日)</a:t>
                      </a:r>
                      <a:endParaRPr sz="4000" b="1" dirty="0">
                        <a:solidFill>
                          <a:srgbClr val="10565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>
                    <a:lnL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solidFill>
                      <a:srgbClr val="F5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1200">
                          <a:latin typeface="微软雅黑" panose="020B0503020204020204" charset="-122"/>
                        </a:defRPr>
                      </a:pPr>
                      <a:r>
                        <a:rPr sz="4000" b="0" dirty="0" err="1">
                          <a:solidFill>
                            <a:srgbClr val="10565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采集电量（含采集覆盖的分布式光伏和自备电厂自发自用电量）</a:t>
                      </a:r>
                      <a:endParaRPr sz="4000" b="0" dirty="0" err="1">
                        <a:solidFill>
                          <a:srgbClr val="10565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lnL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solidFill>
                      <a:srgbClr val="F5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1200">
                          <a:latin typeface="微软雅黑" panose="020B0503020204020204" charset="-122"/>
                        </a:defRPr>
                      </a:pPr>
                      <a:r>
                        <a:rPr lang="en-US" sz="4000" b="0">
                          <a:solidFill>
                            <a:srgbClr val="10565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xxx</a:t>
                      </a:r>
                      <a:endParaRPr lang="en-US" sz="4000" b="0">
                        <a:solidFill>
                          <a:srgbClr val="105650"/>
                        </a:solidFill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</a:txBody>
                  <a:tcPr anchor="ctr">
                    <a:lnL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solidFill>
                      <a:srgbClr val="F5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1200">
                          <a:latin typeface="微软雅黑" panose="020B0503020204020204" charset="-122"/>
                        </a:defRPr>
                      </a:pPr>
                      <a:r>
                        <a:rPr lang="en-US" sz="4000" b="0">
                          <a:solidFill>
                            <a:srgbClr val="10565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xx%</a:t>
                      </a:r>
                      <a:endParaRPr lang="en-US" sz="4000" b="0" dirty="0">
                        <a:solidFill>
                          <a:srgbClr val="105650"/>
                        </a:solidFill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</a:txBody>
                  <a:tcPr anchor="ctr">
                    <a:lnL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solidFill>
                      <a:srgbClr val="F5FFFF"/>
                    </a:solidFill>
                  </a:tcPr>
                </a:tc>
              </a:tr>
              <a:tr h="3254375">
                <a:tc vMerge="1">
                  <a:tcPr>
                    <a:lnL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B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solidFill>
                      <a:srgbClr val="EBFF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1200">
                          <a:latin typeface="微软雅黑" panose="020B0503020204020204" charset="-122"/>
                        </a:defRPr>
                      </a:pPr>
                      <a:r>
                        <a:rPr sz="4000" b="0" dirty="0" err="1">
                          <a:solidFill>
                            <a:srgbClr val="10565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售电量（营销口径</a:t>
                      </a:r>
                      <a:r>
                        <a:rPr sz="4000" b="0" dirty="0">
                          <a:solidFill>
                            <a:srgbClr val="10565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）</a:t>
                      </a:r>
                      <a:endParaRPr sz="4000" b="0" dirty="0">
                        <a:solidFill>
                          <a:srgbClr val="10565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lnL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solidFill>
                      <a:srgbClr val="CBEA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1200">
                          <a:latin typeface="微软雅黑" panose="020B0503020204020204" charset="-122"/>
                        </a:defRPr>
                      </a:pPr>
                      <a:r>
                        <a:rPr lang="en-US" sz="4000" b="0">
                          <a:solidFill>
                            <a:srgbClr val="10565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xxx</a:t>
                      </a:r>
                      <a:endParaRPr lang="en-US" sz="4000" b="0">
                        <a:solidFill>
                          <a:srgbClr val="105650"/>
                        </a:solidFill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</a:txBody>
                  <a:tcPr anchor="ctr">
                    <a:lnL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solidFill>
                      <a:srgbClr val="CBEA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1200">
                          <a:latin typeface="微软雅黑" panose="020B0503020204020204" charset="-122"/>
                        </a:defRPr>
                      </a:pPr>
                      <a:r>
                        <a:rPr lang="en-US" sz="4000" b="0">
                          <a:solidFill>
                            <a:srgbClr val="10565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xx%</a:t>
                      </a:r>
                      <a:endParaRPr lang="zh-CN" altLang="en-US" sz="4000" b="0" dirty="0">
                        <a:solidFill>
                          <a:srgbClr val="105650"/>
                        </a:solidFill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</a:txBody>
                  <a:tcPr anchor="ctr">
                    <a:lnL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solidFill>
                      <a:srgbClr val="CBEAF1"/>
                    </a:solidFill>
                  </a:tcPr>
                </a:tc>
              </a:tr>
              <a:tr h="3254375">
                <a:tc rowSpan="2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1200">
                          <a:latin typeface="微软雅黑" panose="020B0503020204020204" charset="-122"/>
                        </a:defRPr>
                      </a:pPr>
                      <a:r>
                        <a:rPr sz="4000" b="1" dirty="0" err="1">
                          <a:solidFill>
                            <a:srgbClr val="10565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年累计电量</a:t>
                      </a:r>
                      <a:endParaRPr sz="4000" b="1" dirty="0">
                        <a:solidFill>
                          <a:srgbClr val="10565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algn="ctr">
                        <a:lnSpc>
                          <a:spcPct val="150000"/>
                        </a:lnSpc>
                      </a:pPr>
                      <a:r>
                        <a:rPr sz="4000" b="1" dirty="0">
                          <a:solidFill>
                            <a:srgbClr val="10565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(</a:t>
                      </a:r>
                      <a:r>
                        <a:rPr lang="en-US" sz="4000" b="1" dirty="0">
                          <a:solidFill>
                            <a:srgbClr val="10565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x</a:t>
                      </a:r>
                      <a:r>
                        <a:rPr sz="4000" b="1" dirty="0">
                          <a:solidFill>
                            <a:srgbClr val="10565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月</a:t>
                      </a:r>
                      <a:r>
                        <a:rPr lang="en-US" sz="4000" b="1" dirty="0">
                          <a:solidFill>
                            <a:srgbClr val="10565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x</a:t>
                      </a:r>
                      <a:r>
                        <a:rPr lang="zh-CN" sz="4000" b="1" dirty="0">
                          <a:solidFill>
                            <a:srgbClr val="10565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日</a:t>
                      </a:r>
                      <a:r>
                        <a:rPr sz="4000" b="1" dirty="0">
                          <a:solidFill>
                            <a:srgbClr val="10565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-</a:t>
                      </a:r>
                      <a:r>
                        <a:rPr lang="en-US" sz="4000" b="1" dirty="0">
                          <a:solidFill>
                            <a:srgbClr val="10565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x</a:t>
                      </a:r>
                      <a:r>
                        <a:rPr lang="zh-CN" altLang="en-US" sz="4000" b="1" dirty="0">
                          <a:solidFill>
                            <a:srgbClr val="10565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月</a:t>
                      </a:r>
                      <a:r>
                        <a:rPr lang="en-US" altLang="zh-CN" sz="4000" b="1" dirty="0">
                          <a:solidFill>
                            <a:srgbClr val="10565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x</a:t>
                      </a:r>
                      <a:r>
                        <a:rPr sz="4000" b="1" dirty="0">
                          <a:solidFill>
                            <a:srgbClr val="10565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日)</a:t>
                      </a:r>
                      <a:endParaRPr sz="4000" b="1" dirty="0">
                        <a:solidFill>
                          <a:srgbClr val="10565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>
                    <a:lnL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solidFill>
                      <a:srgbClr val="F5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1200">
                          <a:latin typeface="微软雅黑" panose="020B0503020204020204" charset="-122"/>
                        </a:defRPr>
                      </a:pPr>
                      <a:r>
                        <a:rPr sz="4000" b="0" dirty="0" err="1">
                          <a:solidFill>
                            <a:srgbClr val="10565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采集电量（含采集覆盖的分布式光伏和自备电厂自发自用电量</a:t>
                      </a:r>
                      <a:r>
                        <a:rPr sz="4000" b="0" dirty="0">
                          <a:solidFill>
                            <a:srgbClr val="10565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）</a:t>
                      </a:r>
                      <a:endParaRPr sz="4000" b="0" dirty="0">
                        <a:solidFill>
                          <a:srgbClr val="10565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lnL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solidFill>
                      <a:srgbClr val="F5FF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1200">
                          <a:latin typeface="微软雅黑" panose="020B0503020204020204" charset="-122"/>
                        </a:defRPr>
                      </a:pPr>
                      <a:r>
                        <a:rPr lang="en-US" sz="4000" b="0">
                          <a:solidFill>
                            <a:srgbClr val="10565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xxx</a:t>
                      </a:r>
                      <a:endParaRPr lang="en-US" sz="4000" b="0">
                        <a:solidFill>
                          <a:srgbClr val="105650"/>
                        </a:solidFill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</a:txBody>
                  <a:tcPr anchor="ctr">
                    <a:lnL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solidFill>
                      <a:srgbClr val="F5FF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1200">
                          <a:latin typeface="微软雅黑" panose="020B0503020204020204" charset="-122"/>
                        </a:defRPr>
                      </a:pPr>
                      <a:r>
                        <a:rPr lang="en-US" sz="4000" b="0">
                          <a:solidFill>
                            <a:srgbClr val="10565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xx%</a:t>
                      </a:r>
                      <a:endParaRPr lang="en-US" sz="4000" b="0" dirty="0">
                        <a:solidFill>
                          <a:srgbClr val="105650"/>
                        </a:solidFill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</a:txBody>
                  <a:tcPr anchor="ctr">
                    <a:lnL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solidFill>
                      <a:srgbClr val="F5FFFE"/>
                    </a:solidFill>
                  </a:tcPr>
                </a:tc>
              </a:tr>
              <a:tr h="3254375">
                <a:tc vMerge="1">
                  <a:tcPr>
                    <a:lnL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B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solidFill>
                      <a:srgbClr val="EBFF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1200">
                          <a:latin typeface="微软雅黑" panose="020B0503020204020204" charset="-122"/>
                        </a:defRPr>
                      </a:pPr>
                      <a:r>
                        <a:rPr sz="4000" b="0">
                          <a:solidFill>
                            <a:srgbClr val="10565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售电量（营销口径）</a:t>
                      </a:r>
                      <a:endParaRPr sz="4000" b="0">
                        <a:solidFill>
                          <a:srgbClr val="10565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lnL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solidFill>
                      <a:srgbClr val="CBEA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1200">
                          <a:latin typeface="微软雅黑" panose="020B0503020204020204" charset="-122"/>
                        </a:defRPr>
                      </a:pPr>
                      <a:r>
                        <a:rPr lang="en-US" sz="4000" b="0">
                          <a:solidFill>
                            <a:srgbClr val="10565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xxx</a:t>
                      </a:r>
                      <a:endParaRPr lang="en-US" sz="4000" b="0">
                        <a:solidFill>
                          <a:srgbClr val="105650"/>
                        </a:solidFill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</a:txBody>
                  <a:tcPr anchor="ctr">
                    <a:lnL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solidFill>
                      <a:srgbClr val="CBEA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1200">
                          <a:latin typeface="微软雅黑" panose="020B0503020204020204" charset="-122"/>
                        </a:defRPr>
                      </a:pPr>
                      <a:r>
                        <a:rPr lang="en-US" sz="4000" b="0" dirty="0">
                          <a:solidFill>
                            <a:srgbClr val="10565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xx%</a:t>
                      </a:r>
                      <a:endParaRPr lang="en-US" sz="4000" b="0" dirty="0">
                        <a:solidFill>
                          <a:srgbClr val="105650"/>
                        </a:solidFill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</a:txBody>
                  <a:tcPr anchor="ctr">
                    <a:lnL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solidFill>
                      <a:srgbClr val="CBEAF2"/>
                    </a:solidFill>
                  </a:tcPr>
                </a:tc>
              </a:tr>
            </a:tbl>
          </a:graphicData>
        </a:graphic>
      </p:graphicFrame>
      <p:sp>
        <p:nvSpPr>
          <p:cNvPr id="3" name="圆角矩形 2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16158" y="4323144"/>
            <a:ext cx="17517110" cy="1447156"/>
          </a:xfrm>
          <a:prstGeom prst="roundRect">
            <a:avLst/>
          </a:prstGeom>
          <a:gradFill>
            <a:gsLst>
              <a:gs pos="0">
                <a:schemeClr val="accent1">
                  <a:lumMod val="20000"/>
                  <a:lumOff val="80000"/>
                </a:schemeClr>
              </a:gs>
              <a:gs pos="100000">
                <a:schemeClr val="bg1"/>
              </a:gs>
            </a:gsLst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CN" altLang="en-US" sz="4000"/>
          </a:p>
        </p:txBody>
      </p:sp>
      <p:sp>
        <p:nvSpPr>
          <p:cNvPr id="4" name="TextBox 4"/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412983" y="4706684"/>
            <a:ext cx="17520285" cy="9728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defRPr sz="1400">
                <a:latin typeface="微软雅黑" panose="020B0503020204020204" charset="-122"/>
              </a:defRPr>
            </a:pPr>
            <a:r>
              <a:rPr sz="4000" b="1" dirty="0" err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地区范围：公司经营区</a:t>
            </a:r>
            <a:r>
              <a:rPr sz="40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</a:t>
            </a:r>
            <a:r>
              <a:rPr lang="en-US" sz="40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</a:t>
            </a:r>
            <a:r>
              <a:rPr lang="zh-CN" altLang="en-US" sz="40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</a:t>
            </a:r>
            <a:r>
              <a:rPr lang="en-US" sz="40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          </a:t>
            </a:r>
            <a:r>
              <a:rPr sz="40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报送日期：202</a:t>
            </a:r>
            <a:r>
              <a:rPr lang="en-US" sz="40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6</a:t>
            </a:r>
            <a:r>
              <a:rPr sz="40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年</a:t>
            </a:r>
            <a:r>
              <a:rPr lang="en-US" sz="40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x</a:t>
            </a:r>
            <a:r>
              <a:rPr sz="40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月</a:t>
            </a:r>
            <a:r>
              <a:rPr lang="en-US" sz="40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x</a:t>
            </a:r>
            <a:r>
              <a:rPr sz="40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日</a:t>
            </a:r>
            <a:endParaRPr sz="4000" b="1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TextBox 3"/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48126" y="3442156"/>
            <a:ext cx="18288000" cy="7067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>
                <a:latin typeface="微软雅黑" panose="020B0503020204020204" charset="-122"/>
              </a:defRPr>
            </a:pPr>
            <a:r>
              <a:rPr lang="en-US" sz="40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(</a:t>
            </a:r>
            <a:r>
              <a:rPr sz="40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202</a:t>
            </a:r>
            <a:r>
              <a:rPr lang="en-US" sz="40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6</a:t>
            </a:r>
            <a:r>
              <a:rPr sz="40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年</a:t>
            </a:r>
            <a:r>
              <a:rPr lang="en-US" sz="40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x</a:t>
            </a:r>
            <a:r>
              <a:rPr sz="40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月</a:t>
            </a:r>
            <a:r>
              <a:rPr lang="en-US" sz="40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xx</a:t>
            </a:r>
            <a:r>
              <a:rPr lang="zh-CN" altLang="en-US" sz="40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日</a:t>
            </a:r>
            <a:r>
              <a:rPr sz="40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-</a:t>
            </a:r>
            <a:r>
              <a:rPr sz="4000" dirty="0">
                <a:ea typeface="微软雅黑" panose="020B0503020204020204" charset="-122"/>
                <a:cs typeface="微软雅黑" panose="020B0503020204020204" charset="-122"/>
                <a:sym typeface="+mn-ea"/>
              </a:rPr>
              <a:t>202</a:t>
            </a:r>
            <a:r>
              <a:rPr lang="en-US" sz="4000" dirty="0">
                <a:ea typeface="微软雅黑" panose="020B0503020204020204" charset="-122"/>
                <a:cs typeface="微软雅黑" panose="020B0503020204020204" charset="-122"/>
                <a:sym typeface="+mn-ea"/>
              </a:rPr>
              <a:t>6</a:t>
            </a:r>
            <a:r>
              <a:rPr sz="4000" dirty="0">
                <a:ea typeface="微软雅黑" panose="020B0503020204020204" charset="-122"/>
                <a:cs typeface="微软雅黑" panose="020B0503020204020204" charset="-122"/>
                <a:sym typeface="+mn-ea"/>
              </a:rPr>
              <a:t>年</a:t>
            </a:r>
            <a:r>
              <a:rPr lang="en-US" sz="4000" dirty="0">
                <a:ea typeface="微软雅黑" panose="020B0503020204020204" charset="-122"/>
                <a:cs typeface="微软雅黑" panose="020B0503020204020204" charset="-122"/>
                <a:sym typeface="+mn-ea"/>
              </a:rPr>
              <a:t>x</a:t>
            </a:r>
            <a:r>
              <a:rPr sz="4000" dirty="0">
                <a:ea typeface="微软雅黑" panose="020B0503020204020204" charset="-122"/>
                <a:cs typeface="微软雅黑" panose="020B0503020204020204" charset="-122"/>
                <a:sym typeface="+mn-ea"/>
              </a:rPr>
              <a:t>月</a:t>
            </a:r>
            <a:r>
              <a:rPr lang="en-US" sz="4000" dirty="0">
                <a:ea typeface="微软雅黑" panose="020B0503020204020204" charset="-122"/>
                <a:cs typeface="微软雅黑" panose="020B0503020204020204" charset="-122"/>
                <a:sym typeface="+mn-ea"/>
              </a:rPr>
              <a:t>xx</a:t>
            </a:r>
            <a:r>
              <a:rPr sz="40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日</a:t>
            </a:r>
            <a:r>
              <a:rPr lang="en-US" sz="40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)</a:t>
            </a:r>
            <a:endParaRPr lang="en-US" sz="40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9" name="图片 8" descr="图片包含 徽标&#10;&#10;AI 生成的内容可能不正确。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 rotWithShape="1">
          <a:blip r:embed="rId3"/>
          <a:srcRect l="4063" t="29301" r="63192" b="29048"/>
          <a:stretch>
            <a:fillRect/>
          </a:stretch>
        </p:blipFill>
        <p:spPr>
          <a:xfrm>
            <a:off x="-173829" y="2238"/>
            <a:ext cx="2502928" cy="2076450"/>
          </a:xfrm>
          <a:prstGeom prst="rect">
            <a:avLst/>
          </a:prstGeom>
        </p:spPr>
      </p:pic>
      <p:sp>
        <p:nvSpPr>
          <p:cNvPr id="10" name="TextBox 4"/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2001873" y="558140"/>
            <a:ext cx="5294613" cy="142084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spcAft>
                <a:spcPts val="120"/>
              </a:spcAft>
              <a:defRPr sz="1400">
                <a:latin typeface="微软雅黑" panose="020B0503020204020204" charset="-122"/>
              </a:defRPr>
            </a:pPr>
            <a:r>
              <a:rPr lang="zh-CN" altLang="en-US" sz="3600" b="1" spc="100" dirty="0">
                <a:solidFill>
                  <a:srgbClr val="5959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用电需求分析预测</a:t>
            </a:r>
            <a:endParaRPr lang="en-US" altLang="zh-CN" sz="3600" b="1" spc="100" dirty="0">
              <a:solidFill>
                <a:srgbClr val="59595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spcAft>
                <a:spcPts val="120"/>
              </a:spcAft>
              <a:defRPr sz="1400">
                <a:latin typeface="微软雅黑" panose="020B0503020204020204" charset="-122"/>
              </a:defRPr>
            </a:pPr>
            <a:r>
              <a:rPr lang="zh-CN" altLang="en-US" sz="3600" b="1" spc="100" dirty="0">
                <a:solidFill>
                  <a:srgbClr val="5959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 全国用电监测分析 ）</a:t>
            </a:r>
            <a:endParaRPr sz="3600" b="1" spc="100" dirty="0">
              <a:solidFill>
                <a:srgbClr val="59595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Box 3"/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441960" y="27838400"/>
            <a:ext cx="17404080" cy="5835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defRPr sz="2000">
                <a:latin typeface="微软雅黑" panose="020B0503020204020204" charset="-122"/>
              </a:defRPr>
            </a:pPr>
            <a:r>
              <a:rPr lang="zh-CN" altLang="en-US" sz="3200" dirty="0">
                <a:solidFill>
                  <a:schemeClr val="bg1">
                    <a:lumMod val="50000"/>
                  </a:schemeClr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备注：</a:t>
            </a:r>
            <a:endParaRPr lang="zh-CN" altLang="en-US" sz="3200" dirty="0">
              <a:solidFill>
                <a:schemeClr val="bg1">
                  <a:lumMod val="50000"/>
                </a:schemeClr>
              </a:solidFill>
              <a:effectLst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TABLE_ENDDRAG_ORIGIN_RECT" val="1387*1776"/>
  <p:tag name="TABLE_ENDDRAG_RECT" val="42*528*1387*1776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352</Words>
  <Application>WPS 演示</Application>
  <PresentationFormat>自定义</PresentationFormat>
  <Paragraphs>75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9" baseType="lpstr">
      <vt:lpstr>Arial</vt:lpstr>
      <vt:lpstr>宋体</vt:lpstr>
      <vt:lpstr>Wingdings</vt:lpstr>
      <vt:lpstr>Arial</vt:lpstr>
      <vt:lpstr>微软雅黑</vt:lpstr>
      <vt:lpstr>Calibri</vt:lpstr>
      <vt:lpstr>Arial Unicode MS</vt:lpstr>
      <vt:lpstr>Office Theme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Mo Kunming</cp:lastModifiedBy>
  <cp:revision>228</cp:revision>
  <dcterms:created xsi:type="dcterms:W3CDTF">2026-01-05T02:09:00Z</dcterms:created>
  <dcterms:modified xsi:type="dcterms:W3CDTF">2026-07-08T10:08:44Z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5EA6DF16ED90840644921A69D9329C4D_42</vt:lpwstr>
  </property>
  <property fmtid="{D5CDD505-2E9C-101B-9397-08002B2CF9AE}" pid="3" name="KSOProductBuildVer">
    <vt:lpwstr>2052-12.1.0.26884</vt:lpwstr>
  </property>
</Properties>
</file>